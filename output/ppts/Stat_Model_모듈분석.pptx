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총 7개 모듈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전체 모델 흐름도: Stat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1828800" cy="9144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Load Data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(LoadData)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468880"/>
            <a:ext cx="1828800" cy="9144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Stat Models 1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(StatModels)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097280"/>
            <a:ext cx="1828800" cy="9144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Select Data 1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(SelectData)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468880"/>
            <a:ext cx="1828800" cy="9144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Statistics 1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(Statistics)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1828800" cy="9144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Result Model 1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(ResultModel)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468880"/>
            <a:ext cx="1828800" cy="9144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Diversion Checker 1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(DiversionChecker)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097280"/>
            <a:ext cx="1828800" cy="9144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Predict Model 1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(PredictModel)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1. Load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943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📥 입력 데이터 형태</a:t>
            </a:r>
          </a:p>
          <a:p>
            <a:pPr lvl="1">
              <a:spcAft>
                <a:spcPts val="800"/>
              </a:spcAft>
              <a:defRPr sz="1300"/>
            </a:pPr>
            <a:r>
              <a:t>입력 데이터 없음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🔍 분석 내용</a:t>
            </a:r>
          </a:p>
          <a:p>
            <a:pPr lvl="1">
              <a:spcAft>
                <a:spcPts val="300"/>
              </a:spcAft>
              <a:defRPr sz="1300"/>
            </a:pPr>
            <a:r>
              <a:t>데이터 소스: insurance_claims.csv</a:t>
            </a:r>
          </a:p>
          <a:p>
            <a:pPr lvl="1">
              <a:spcAft>
                <a:spcPts val="300"/>
              </a:spcAft>
              <a:defRPr sz="1300"/>
            </a:pPr>
            <a:r>
              <a:t>CSV 파일에서 데이터를 로드하여 데이터프레임으로 변환</a:t>
            </a:r>
          </a:p>
          <a:p>
            <a:pPr lvl="1">
              <a:spcAft>
                <a:spcPts val="300"/>
              </a:spcAft>
              <a:defRPr sz="1300"/>
            </a:pPr>
            <a:r>
              <a:t>데이터 흐름: 파일 → 데이터프레임 변환 → 다음 모듈로 전달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📤 생성되는 결과</a:t>
            </a:r>
          </a:p>
          <a:p>
            <a:pPr lvl="1">
              <a:spcAft>
                <a:spcPts val="300"/>
              </a:spcAft>
              <a:defRPr sz="1300"/>
            </a:pPr>
            <a:r>
              <a:t>• data_out (data): 데이터 테이블</a:t>
            </a:r>
          </a:p>
          <a:p>
            <a:pPr lvl="1">
              <a:spcAft>
                <a:spcPts val="300"/>
              </a:spcAft>
              <a:defRPr sz="1300"/>
            </a:pPr>
            <a:r>
              <a:t>  - 형태: 47행 × 7열</a:t>
            </a:r>
          </a:p>
          <a:p>
            <a:pPr lvl="1">
              <a:spcAft>
                <a:spcPts val="300"/>
              </a:spcAft>
              <a:defRPr sz="1300"/>
            </a:pPr>
            <a:r>
              <a:t>  - 주요 컬럼: race, fire, theft, age, volact...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⚙️ 주요 파라미터</a:t>
            </a:r>
          </a:p>
          <a:p>
            <a:pPr lvl="1">
              <a:spcAft>
                <a:spcPts val="200"/>
              </a:spcAft>
              <a:defRPr sz="1300"/>
            </a:pPr>
            <a:r>
              <a:t>  • source: insurance_claims.csv</a:t>
            </a:r>
          </a:p>
          <a:p>
            <a:pPr lvl="1">
              <a:spcAft>
                <a:spcPts val="200"/>
              </a:spcAft>
              <a:defRPr sz="1300"/>
            </a:pPr>
            <a:r>
              <a:t>  • fileContent: race,fire,theft,age,volact,involact,inco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2. Select Data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943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📥 입력 데이터 형태</a:t>
            </a:r>
          </a:p>
          <a:p>
            <a:pPr lvl="1">
              <a:spcAft>
                <a:spcPts val="800"/>
              </a:spcAft>
              <a:defRPr sz="1300"/>
            </a:pPr>
            <a:r>
              <a:t>• data_in (data): Load Data에서 전달</a:t>
            </a:r>
            <a:br/>
            <a:r>
              <a:t>  - 형태: 47행 × 7열</a:t>
            </a:r>
            <a:br/>
            <a:r>
              <a:t>  - 주요 컬럼: race, fire, theft, age, volact...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🔍 분석 내용</a:t>
            </a:r>
          </a:p>
          <a:p>
            <a:pPr lvl="1">
              <a:spcAft>
                <a:spcPts val="300"/>
              </a:spcAft>
              <a:defRPr sz="1300"/>
            </a:pPr>
            <a:r>
              <a:t>전체 컬럼 선택: 7개</a:t>
            </a:r>
          </a:p>
          <a:p>
            <a:pPr lvl="1">
              <a:spcAft>
                <a:spcPts val="300"/>
              </a:spcAft>
              <a:defRPr sz="1300"/>
            </a:pPr>
            <a:r>
              <a:t>분석 방법: 입력 데이터에서 필요한 컬럼만 필터링하여 출력</a:t>
            </a:r>
          </a:p>
          <a:p>
            <a:pPr lvl="1">
              <a:spcAft>
                <a:spcPts val="300"/>
              </a:spcAft>
              <a:defRPr sz="1300"/>
            </a:pPr>
            <a:r>
              <a:t>데이터 흐름: 전체 데이터 → 컬럼 선택 → 선택된 데이터 출력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📤 생성되는 결과</a:t>
            </a:r>
          </a:p>
          <a:p>
            <a:pPr lvl="1">
              <a:spcAft>
                <a:spcPts val="300"/>
              </a:spcAft>
              <a:defRPr sz="1300"/>
            </a:pPr>
            <a:r>
              <a:t>• data_out (data): 데이터 테이블</a:t>
            </a:r>
          </a:p>
          <a:p>
            <a:pPr lvl="1">
              <a:spcAft>
                <a:spcPts val="300"/>
              </a:spcAft>
              <a:defRPr sz="1300"/>
            </a:pPr>
            <a:r>
              <a:t>  - 형태: 47행 × 7열</a:t>
            </a:r>
          </a:p>
          <a:p>
            <a:pPr lvl="1">
              <a:spcAft>
                <a:spcPts val="300"/>
              </a:spcAft>
              <a:defRPr sz="1300"/>
            </a:pPr>
            <a:r>
              <a:t>  - 주요 컬럼: race, fire, theft, age, volact...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⚙️ 주요 파라미터</a:t>
            </a:r>
          </a:p>
          <a:p>
            <a:pPr lvl="1">
              <a:spcAft>
                <a:spcPts val="200"/>
              </a:spcAft>
              <a:defRPr sz="1300"/>
            </a:pPr>
            <a:r>
              <a:t>  • columnSelections: {}...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3. Statistics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943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📥 입력 데이터 형태</a:t>
            </a:r>
          </a:p>
          <a:p>
            <a:pPr lvl="1">
              <a:spcAft>
                <a:spcPts val="800"/>
              </a:spcAft>
              <a:defRPr sz="1300"/>
            </a:pPr>
            <a:r>
              <a:t>• data_in (data): Load Data에서 전달</a:t>
            </a:r>
            <a:br/>
            <a:r>
              <a:t>  - 형태: 47행 × 7열</a:t>
            </a:r>
            <a:br/>
            <a:r>
              <a:t>  - 주요 컬럼: race, fire, theft, age, volact...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🔍 분석 내용</a:t>
            </a:r>
          </a:p>
          <a:p>
            <a:pPr lvl="1">
              <a:spcAft>
                <a:spcPts val="300"/>
              </a:spcAft>
              <a:defRPr sz="1300"/>
            </a:pPr>
            <a:r>
              <a:t>분석 방법: 기술 통계량 계산</a:t>
            </a:r>
          </a:p>
          <a:p>
            <a:pPr lvl="1">
              <a:spcAft>
                <a:spcPts val="300"/>
              </a:spcAft>
              <a:defRPr sz="1300"/>
            </a:pPr>
            <a:r>
              <a:t>- 평균, 표준편차, 최소값, 최대값, 사분위수 등</a:t>
            </a:r>
          </a:p>
          <a:p>
            <a:pPr lvl="1">
              <a:spcAft>
                <a:spcPts val="300"/>
              </a:spcAft>
              <a:defRPr sz="1300"/>
            </a:pPr>
            <a:r>
              <a:t>- 각 컬럼별 분포 및 요약 통계 제공</a:t>
            </a:r>
          </a:p>
          <a:p>
            <a:pPr lvl="1">
              <a:spcAft>
                <a:spcPts val="300"/>
              </a:spcAft>
              <a:defRPr sz="1300"/>
            </a:pPr>
            <a:r>
              <a:t>데이터 흐름: 입력 데이터 → 통계량 계산 → 요약 결과 출력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📤 생성되는 결과</a:t>
            </a:r>
          </a:p>
          <a:p>
            <a:pPr lvl="1">
              <a:spcAft>
                <a:spcPts val="300"/>
              </a:spcAft>
              <a:defRPr sz="1300"/>
            </a:pPr>
            <a:r>
              <a:t>출력 데이터 없음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4. Stat Models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943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📥 입력 데이터 형태</a:t>
            </a:r>
          </a:p>
          <a:p>
            <a:pPr lvl="1">
              <a:spcAft>
                <a:spcPts val="800"/>
              </a:spcAft>
              <a:defRPr sz="1300"/>
            </a:pPr>
            <a:r>
              <a:t>입력 데이터 없음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🔍 분석 내용</a:t>
            </a:r>
          </a:p>
          <a:p>
            <a:pPr lvl="1">
              <a:spcAft>
                <a:spcPts val="300"/>
              </a:spcAft>
              <a:defRPr sz="1300"/>
            </a:pPr>
            <a:r>
              <a:t>모델 정의: OLS 모델 구조 설정</a:t>
            </a:r>
          </a:p>
          <a:p>
            <a:pPr lvl="1">
              <a:spcAft>
                <a:spcPts val="300"/>
              </a:spcAft>
              <a:defRPr sz="1300"/>
            </a:pPr>
            <a:r>
              <a:t>분석 방법: 통계 모델의 구조와 파라미터를 정의하여 모델 인스턴스 생성</a:t>
            </a:r>
          </a:p>
          <a:p>
            <a:pPr lvl="1">
              <a:spcAft>
                <a:spcPts val="300"/>
              </a:spcAft>
              <a:defRPr sz="1300"/>
            </a:pPr>
            <a:r>
              <a:t>데이터 흐름: 모델 타입 선택 → 모델 정의 생성 → Result Model로 전달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📤 생성되는 결과</a:t>
            </a:r>
          </a:p>
          <a:p>
            <a:pPr lvl="1">
              <a:spcAft>
                <a:spcPts val="300"/>
              </a:spcAft>
              <a:defRPr sz="1300"/>
            </a:pPr>
            <a:r>
              <a:t>• model_out (model): ModelDefinitionOutput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⚙️ 주요 파라미터</a:t>
            </a:r>
          </a:p>
          <a:p>
            <a:pPr lvl="1">
              <a:spcAft>
                <a:spcPts val="200"/>
              </a:spcAft>
              <a:defRPr sz="1300"/>
            </a:pPr>
            <a:r>
              <a:t>  • model: 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5. Result Model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943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📥 입력 데이터 형태</a:t>
            </a:r>
          </a:p>
          <a:p>
            <a:pPr lvl="1">
              <a:spcAft>
                <a:spcPts val="800"/>
              </a:spcAft>
              <a:defRPr sz="1300"/>
            </a:pPr>
            <a:r>
              <a:t>• model_in (model): Stat Models 1에서 전달</a:t>
            </a:r>
            <a:br/>
            <a:r>
              <a:t>• data_in (data): Select Data 1에서 전달</a:t>
            </a:r>
            <a:br/>
            <a:r>
              <a:t>  - 형태: 47행 × 7열</a:t>
            </a:r>
            <a:br/>
            <a:r>
              <a:t>  - 주요 컬럼: race, fire, theft, age, volact...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🔍 분석 내용</a:t>
            </a:r>
          </a:p>
          <a:p>
            <a:pPr lvl="1">
              <a:spcAft>
                <a:spcPts val="300"/>
              </a:spcAft>
              <a:defRPr sz="1300"/>
            </a:pPr>
            <a:r>
              <a:t>사용 모델: OLS</a:t>
            </a:r>
          </a:p>
          <a:p>
            <a:pPr lvl="1">
              <a:spcAft>
                <a:spcPts val="300"/>
              </a:spcAft>
              <a:defRPr sz="1300"/>
            </a:pPr>
            <a:r>
              <a:t>특성 변수: 6개 - race, fire, theft, age, volact...</a:t>
            </a:r>
          </a:p>
          <a:p>
            <a:pPr lvl="1">
              <a:spcAft>
                <a:spcPts val="300"/>
              </a:spcAft>
              <a:defRPr sz="1300"/>
            </a:pPr>
            <a:r>
              <a:t>목표 변수: income</a:t>
            </a:r>
          </a:p>
          <a:p>
            <a:pPr lvl="1">
              <a:spcAft>
                <a:spcPts val="300"/>
              </a:spcAft>
              <a:defRPr sz="1300"/>
            </a:pPr>
            <a:r>
              <a:t>적용된 모델: OLS</a:t>
            </a:r>
          </a:p>
          <a:p>
            <a:pPr lvl="1">
              <a:spcAft>
                <a:spcPts val="300"/>
              </a:spcAft>
              <a:defRPr sz="1300"/>
            </a:pPr>
            <a:r>
              <a:t>분석 방법:</a:t>
            </a:r>
          </a:p>
          <a:p>
            <a:pPr lvl="1">
              <a:spcAft>
                <a:spcPts val="300"/>
              </a:spcAft>
              <a:defRPr sz="1300"/>
            </a:pPr>
            <a:r>
              <a:t>  - 최소제곱법(OLS)을 사용한 선형 회귀</a:t>
            </a:r>
          </a:p>
          <a:p>
            <a:pPr lvl="1">
              <a:spcAft>
                <a:spcPts val="300"/>
              </a:spcAft>
              <a:defRPr sz="1300"/>
            </a:pPr>
            <a:r>
              <a:t>생성된 함수식: income = 14203.7678 -42.2994×race -119.4703×fire + 37.5395×theft -44.0889×age + 65.8255×volact + 673.8800×involact</a:t>
            </a:r>
          </a:p>
          <a:p>
            <a:pPr lvl="1">
              <a:spcAft>
                <a:spcPts val="300"/>
              </a:spcAft>
              <a:defRPr sz="1300"/>
            </a:pPr>
            <a:r>
              <a:t>주요 지표: R² = 0.700041, AIC = 834.339093, Log-Likelihood = -410.169546</a:t>
            </a:r>
          </a:p>
          <a:p>
            <a:pPr lvl="1">
              <a:spcAft>
                <a:spcPts val="300"/>
              </a:spcAft>
              <a:defRPr sz="1300"/>
            </a:pPr>
            <a:r>
              <a:t>데이터 흐름: 데이터 + 모델 정의 → 모델 피팅 → 계수 및 통계량 계산 → 결과 출력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📤 생성되는 결과</a:t>
            </a:r>
          </a:p>
          <a:p>
            <a:pPr lvl="1">
              <a:spcAft>
                <a:spcPts val="300"/>
              </a:spcAft>
              <a:defRPr sz="1300"/>
            </a:pPr>
            <a:r>
              <a:t>• result_out (evaluation): 통계 모델 결과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⚙️ 주요 파라미터</a:t>
            </a:r>
          </a:p>
          <a:p>
            <a:pPr lvl="1">
              <a:spcAft>
                <a:spcPts val="200"/>
              </a:spcAft>
              <a:defRPr sz="1300"/>
            </a:pPr>
            <a:r>
              <a:t>  • feature_columns: ["race", "fire", "theft", "age", "volact...</a:t>
            </a:r>
          </a:p>
          <a:p>
            <a:pPr lvl="1">
              <a:spcAft>
                <a:spcPts val="200"/>
              </a:spcAft>
              <a:defRPr sz="1300"/>
            </a:pPr>
            <a:r>
              <a:t>  • label_column: income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6. Predict Model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943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📥 입력 데이터 형태</a:t>
            </a:r>
          </a:p>
          <a:p>
            <a:pPr lvl="1">
              <a:spcAft>
                <a:spcPts val="800"/>
              </a:spcAft>
              <a:defRPr sz="1300"/>
            </a:pPr>
            <a:r>
              <a:t>• model_in (evaluation): Result Model 1에서 전달</a:t>
            </a:r>
            <a:br/>
            <a:r>
              <a:t>• data_in (data): Select Data 1에서 전달</a:t>
            </a:r>
            <a:br/>
            <a:r>
              <a:t>  - 형태: 47행 × 7열</a:t>
            </a:r>
            <a:br/>
            <a:r>
              <a:t>  - 주요 컬럼: race, fire, theft, age, volact...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🔍 분석 내용</a:t>
            </a:r>
          </a:p>
          <a:p>
            <a:pPr lvl="1">
              <a:spcAft>
                <a:spcPts val="300"/>
              </a:spcAft>
              <a:defRPr sz="1300"/>
            </a:pPr>
            <a:r>
              <a:t>분석 방법: 훈련된 모델을 사용하여 예측 수행</a:t>
            </a:r>
          </a:p>
          <a:p>
            <a:pPr lvl="1">
              <a:spcAft>
                <a:spcPts val="300"/>
              </a:spcAft>
              <a:defRPr sz="1300"/>
            </a:pPr>
            <a:r>
              <a:t>예측 과정: 입력 데이터에 모델 함수식 적용 → 예측값 계산 → 결과 데이터에 예측값 컬럼 추가</a:t>
            </a:r>
          </a:p>
          <a:p>
            <a:pPr lvl="1">
              <a:spcAft>
                <a:spcPts val="300"/>
              </a:spcAft>
              <a:defRPr sz="1300"/>
            </a:pPr>
            <a:r>
              <a:t>데이터 흐름: 데이터 + 훈련된 모델 → 예측 수행 → 예측값 포함 데이터 출력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📤 생성되는 결과</a:t>
            </a:r>
          </a:p>
          <a:p>
            <a:pPr lvl="1">
              <a:spcAft>
                <a:spcPts val="300"/>
              </a:spcAft>
              <a:defRPr sz="1300"/>
            </a:pPr>
            <a:r>
              <a:t>• scored_data_out (data): 데이터 테이블</a:t>
            </a:r>
          </a:p>
          <a:p>
            <a:pPr lvl="1">
              <a:spcAft>
                <a:spcPts val="300"/>
              </a:spcAft>
              <a:defRPr sz="1300"/>
            </a:pPr>
            <a:r>
              <a:t>  - 형태: 47행 × 8열</a:t>
            </a:r>
          </a:p>
          <a:p>
            <a:pPr lvl="1">
              <a:spcAft>
                <a:spcPts val="300"/>
              </a:spcAft>
              <a:defRPr sz="1300"/>
            </a:pPr>
            <a:r>
              <a:t>  - 주요 컬럼: race, fire, theft, age, volact...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7. Diversion Checker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943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📥 입력 데이터 형태</a:t>
            </a:r>
          </a:p>
          <a:p>
            <a:pPr lvl="1">
              <a:spcAft>
                <a:spcPts val="800"/>
              </a:spcAft>
              <a:defRPr sz="1300"/>
            </a:pPr>
            <a:r>
              <a:t>• data_in (data): Select Data 1에서 전달</a:t>
            </a:r>
            <a:br/>
            <a:r>
              <a:t>  - 형태: 47행 × 7열</a:t>
            </a:r>
            <a:br/>
            <a:r>
              <a:t>  - 주요 컬럼: race, fire, theft, age, volact...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🔍 분석 내용</a:t>
            </a:r>
          </a:p>
          <a:p>
            <a:pPr lvl="1">
              <a:spcAft>
                <a:spcPts val="300"/>
              </a:spcAft>
              <a:defRPr sz="1300"/>
            </a:pPr>
            <a:r>
              <a:t>DiversionChecker 모듈 실행</a:t>
            </a:r>
          </a:p>
          <a:p>
            <a:pPr lvl="1">
              <a:spcAft>
                <a:spcPts val="300"/>
              </a:spcAft>
              <a:defRPr sz="1300"/>
            </a:pPr>
            <a:r>
              <a:t>주요 파라미터: feature_columns, label_column, max_iter</a:t>
            </a:r>
          </a:p>
          <a:p>
            <a:pPr lvl="1">
              <a:spcAft>
                <a:spcPts val="300"/>
              </a:spcAft>
              <a:defRPr sz="1300"/>
            </a:pPr>
            <a:r>
              <a:t>데이터 흐름: 입력 데이터 처리 → 분석 수행 → 결과 출력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📤 생성되는 결과</a:t>
            </a:r>
          </a:p>
          <a:p>
            <a:pPr lvl="1">
              <a:spcAft>
                <a:spcPts val="300"/>
              </a:spcAft>
              <a:defRPr sz="1300"/>
            </a:pPr>
            <a:r>
              <a:t>• result_out (evaluation): DiversionCheckerOutput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/>
            </a:pPr>
            <a:r>
              <a:t>⚙️ 주요 파라미터</a:t>
            </a:r>
          </a:p>
          <a:p>
            <a:pPr lvl="1">
              <a:spcAft>
                <a:spcPts val="200"/>
              </a:spcAft>
              <a:defRPr sz="1300"/>
            </a:pPr>
            <a:r>
              <a:t>  • feature_columns: ["race", "fire", "theft", "age", "volact...</a:t>
            </a:r>
          </a:p>
          <a:p>
            <a:pPr lvl="1">
              <a:spcAft>
                <a:spcPts val="200"/>
              </a:spcAft>
              <a:defRPr sz="1300"/>
            </a:pPr>
            <a:r>
              <a:t>  • label_column: income</a:t>
            </a:r>
          </a:p>
          <a:p>
            <a:pPr lvl="1">
              <a:spcAft>
                <a:spcPts val="200"/>
              </a:spcAft>
              <a:defRPr sz="1300"/>
            </a:pPr>
            <a:r>
              <a:t>  • max_iter: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